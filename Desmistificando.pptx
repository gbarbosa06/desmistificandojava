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78" r:id="rId5"/>
    <p:sldId id="282" r:id="rId6"/>
    <p:sldId id="271" r:id="rId7"/>
    <p:sldId id="285" r:id="rId8"/>
    <p:sldId id="283" r:id="rId9"/>
    <p:sldId id="284" r:id="rId10"/>
    <p:sldId id="292" r:id="rId11"/>
    <p:sldId id="286" r:id="rId12"/>
    <p:sldId id="287" r:id="rId13"/>
    <p:sldId id="288" r:id="rId14"/>
    <p:sldId id="289" r:id="rId15"/>
    <p:sldId id="290" r:id="rId16"/>
    <p:sldId id="291" r:id="rId1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5388" autoAdjust="0"/>
  </p:normalViewPr>
  <p:slideViewPr>
    <p:cSldViewPr snapToGrid="0">
      <p:cViewPr varScale="1">
        <p:scale>
          <a:sx n="64" d="100"/>
          <a:sy n="64" d="100"/>
        </p:scale>
        <p:origin x="90" y="344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FCF5D6B5-35B7-4285-9A4D-92ED5F34F328}" type="datetime1">
              <a:rPr lang="pt-BR" smtClean="0"/>
              <a:t>26/09/2025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FA70580-B89C-4157-871D-6B9318EE5F5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4CFF1DF4-D409-4130-8A44-0FEC7A586139}" type="datetime1">
              <a:rPr lang="pt-BR" smtClean="0"/>
              <a:pPr/>
              <a:t>26/09/2025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7AF00E9-A49D-4007-B3B9-A3783809E50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6108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5159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427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 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v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v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v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v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3" name="Forma Liv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8" name="Espaço Reservado para Imagem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v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v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v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pt-BR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 + image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pt-BR" sz="1800">
                <a:solidFill>
                  <a:schemeClr val="tx1"/>
                </a:solidFill>
              </a:defRPr>
            </a:lvl1pPr>
            <a:lvl2pPr algn="r">
              <a:defRPr lang="pt-BR" sz="1200">
                <a:solidFill>
                  <a:schemeClr val="tx1"/>
                </a:solidFill>
              </a:defRPr>
            </a:lvl2pPr>
            <a:lvl3pPr algn="r">
              <a:defRPr lang="pt-BR" sz="1200">
                <a:solidFill>
                  <a:schemeClr val="tx1"/>
                </a:solidFill>
              </a:defRPr>
            </a:lvl3pPr>
            <a:lvl4pPr algn="r">
              <a:defRPr lang="pt-BR" sz="1200">
                <a:solidFill>
                  <a:schemeClr val="tx1"/>
                </a:solidFill>
              </a:defRPr>
            </a:lvl4pPr>
            <a:lvl5pPr algn="r"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 +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Tabe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inserir a tabela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08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v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Forma liv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rtlCol="0" anchor="t" anchorCtr="0">
            <a:no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00879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pt-BR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v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pt-BR" sz="6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700" r:id="rId9"/>
    <p:sldLayoutId id="2147483688" r:id="rId10"/>
    <p:sldLayoutId id="2147483701" r:id="rId11"/>
    <p:sldLayoutId id="2147483686" r:id="rId12"/>
    <p:sldLayoutId id="214748368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Desmistificando</a:t>
            </a:r>
            <a:br>
              <a:rPr lang="pt-BR" dirty="0"/>
            </a:br>
            <a:r>
              <a:rPr lang="pt-BR" dirty="0"/>
              <a:t>Java</a:t>
            </a:r>
          </a:p>
        </p:txBody>
      </p:sp>
      <p:pic>
        <p:nvPicPr>
          <p:cNvPr id="8" name="Espaço Reservado para Imagem 13" descr="Tela de fundo digital de pontos de dad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Planejamento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Conceitos iniciais</a:t>
            </a:r>
          </a:p>
          <a:p>
            <a:pPr rtl="0"/>
            <a:r>
              <a:rPr lang="pt-BR" dirty="0"/>
              <a:t>Sintaxe Básica</a:t>
            </a:r>
          </a:p>
          <a:p>
            <a:pPr rtl="0"/>
            <a:r>
              <a:rPr lang="pt-BR" dirty="0"/>
              <a:t>Conceitos e prática de POO</a:t>
            </a:r>
          </a:p>
          <a:p>
            <a:pPr rtl="0"/>
            <a:r>
              <a:rPr lang="pt-BR" dirty="0"/>
              <a:t>Avançando na linguagem – </a:t>
            </a:r>
            <a:r>
              <a:rPr lang="pt-BR" dirty="0" err="1"/>
              <a:t>Collections</a:t>
            </a:r>
            <a:r>
              <a:rPr lang="pt-BR" dirty="0"/>
              <a:t>, </a:t>
            </a:r>
            <a:r>
              <a:rPr lang="pt-BR" dirty="0" err="1"/>
              <a:t>Stream</a:t>
            </a:r>
            <a:r>
              <a:rPr lang="pt-BR" dirty="0"/>
              <a:t> API, </a:t>
            </a:r>
            <a:r>
              <a:rPr lang="pt-BR" dirty="0" err="1"/>
              <a:t>Generics</a:t>
            </a:r>
            <a:endParaRPr lang="pt-BR" dirty="0"/>
          </a:p>
          <a:p>
            <a:pPr rtl="0"/>
            <a:r>
              <a:rPr lang="pt-BR" dirty="0"/>
              <a:t>Explicação </a:t>
            </a:r>
            <a:r>
              <a:rPr lang="pt-BR" dirty="0" err="1"/>
              <a:t>Maven</a:t>
            </a:r>
            <a:endParaRPr lang="pt-BR" dirty="0"/>
          </a:p>
          <a:p>
            <a:pPr rtl="0"/>
            <a:r>
              <a:rPr lang="pt-BR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Sem pré-requisitos</a:t>
            </a:r>
          </a:p>
        </p:txBody>
      </p:sp>
      <p:pic>
        <p:nvPicPr>
          <p:cNvPr id="11" name="Espaço Reservado para Imagem 15" descr="Tela de fundo digital de pontos de dados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Vamos lá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3155900"/>
          </a:xfrm>
          <a:noFill/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Por que Java?</a:t>
            </a: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Conceitos iniciais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3" y="2103039"/>
            <a:ext cx="7929940" cy="397962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JVM - Java Virtual Machine</a:t>
            </a:r>
          </a:p>
          <a:p>
            <a:r>
              <a:rPr lang="pt-BR" dirty="0"/>
              <a:t>JRE - Java </a:t>
            </a:r>
            <a:r>
              <a:rPr lang="pt-BR" dirty="0" err="1"/>
              <a:t>Runtime</a:t>
            </a:r>
            <a:r>
              <a:rPr lang="pt-BR" dirty="0"/>
              <a:t> </a:t>
            </a:r>
            <a:r>
              <a:rPr lang="pt-BR" dirty="0" err="1"/>
              <a:t>Environment</a:t>
            </a:r>
            <a:endParaRPr lang="pt-BR" dirty="0"/>
          </a:p>
          <a:p>
            <a:r>
              <a:rPr lang="pt-BR" dirty="0"/>
              <a:t>JDK - Java </a:t>
            </a:r>
            <a:r>
              <a:rPr lang="pt-BR" dirty="0" err="1"/>
              <a:t>development</a:t>
            </a:r>
            <a:r>
              <a:rPr lang="pt-BR" dirty="0"/>
              <a:t> kit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FIM!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5" name="Espaço Reservado para Imagem 24" descr="Imagem ampliada de uma rede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Técnicas de apresentação eficazes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Essa é uma ferramenta poderosa para falar em público. Envolve variação de timbre, tom e volume para transmitir emoções, enfatizar pontos importantes e manter o interesse. </a:t>
            </a:r>
          </a:p>
          <a:p>
            <a:pPr lvl="1" rtl="0"/>
            <a:r>
              <a:rPr lang="pt-BR" dirty="0"/>
              <a:t>Variação do timbre</a:t>
            </a:r>
          </a:p>
          <a:p>
            <a:pPr lvl="1" rtl="0"/>
            <a:r>
              <a:rPr lang="pt-BR" dirty="0"/>
              <a:t>Inflexão do tom</a:t>
            </a:r>
          </a:p>
          <a:p>
            <a:pPr lvl="1" rtl="0"/>
            <a:r>
              <a:rPr lang="pt-BR" dirty="0"/>
              <a:t>Controle de volume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Uma linguagem corporal eficaz aprimora sua mensagem, tornando-a mais impactante e memorável.</a:t>
            </a:r>
          </a:p>
          <a:p>
            <a:pPr lvl="1" rtl="0"/>
            <a:r>
              <a:rPr lang="pt-BR" dirty="0"/>
              <a:t>Contato visual significativo</a:t>
            </a:r>
          </a:p>
          <a:p>
            <a:pPr lvl="1" rtl="0"/>
            <a:r>
              <a:rPr lang="pt-BR" dirty="0"/>
              <a:t>Gestos intencionais</a:t>
            </a:r>
          </a:p>
          <a:p>
            <a:pPr lvl="1" rtl="0"/>
            <a:r>
              <a:rPr lang="pt-BR" dirty="0"/>
              <a:t>Manter uma boa postura</a:t>
            </a:r>
          </a:p>
          <a:p>
            <a:pPr lvl="1" rtl="0"/>
            <a:r>
              <a:rPr lang="pt-BR" dirty="0"/>
              <a:t>Controle suas expressões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Navegando em sessões de P e 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/>
          <a:lstStyle>
            <a:defPPr>
              <a:defRPr lang="pt-BR"/>
            </a:defPPr>
          </a:lstStyle>
          <a:p>
            <a:pPr lvl="1" rtl="0"/>
            <a:r>
              <a:rPr lang="pt-BR" dirty="0"/>
              <a:t>Conheça seu material com antecedência</a:t>
            </a:r>
          </a:p>
          <a:p>
            <a:pPr lvl="1" rtl="0"/>
            <a:r>
              <a:rPr lang="pt-BR" dirty="0"/>
              <a:t>Preveja perguntas comuns</a:t>
            </a:r>
          </a:p>
          <a:p>
            <a:pPr lvl="1" rtl="0"/>
            <a:r>
              <a:rPr lang="pt-BR" dirty="0"/>
              <a:t>Ensaie suas respostas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Manter a compostura durante a sessão de perguntas e respostas é essencial para transmitir confiança e autoridade. Considere as seguintes dicas para manter a compostura:</a:t>
            </a:r>
          </a:p>
          <a:p>
            <a:pPr lvl="1" rtl="0"/>
            <a:r>
              <a:rPr lang="pt-BR" dirty="0"/>
              <a:t>Fique tranquilo</a:t>
            </a:r>
          </a:p>
          <a:p>
            <a:pPr lvl="1" rtl="0"/>
            <a:r>
              <a:rPr lang="pt-BR" dirty="0"/>
              <a:t>Ouça ativamente</a:t>
            </a:r>
          </a:p>
          <a:p>
            <a:pPr lvl="1" rtl="0"/>
            <a:r>
              <a:rPr lang="pt-BR" dirty="0"/>
              <a:t>Pause e reflita</a:t>
            </a:r>
          </a:p>
          <a:p>
            <a:pPr lvl="1" rtl="0"/>
            <a:r>
              <a:rPr lang="pt-BR" dirty="0"/>
              <a:t>Mantenha contato visual</a:t>
            </a:r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2331490"/>
          </a:xfrm>
          <a:noFill/>
        </p:spPr>
        <p:txBody>
          <a:bodyPr rtlCol="0" anchor="b"/>
          <a:lstStyle>
            <a:defPPr>
              <a:defRPr lang="pt-BR"/>
            </a:defPPr>
          </a:lstStyle>
          <a:p>
            <a:pPr rtl="0"/>
            <a:r>
              <a:rPr lang="pt-BR"/>
              <a:t>Impacto da fala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162" y="2827209"/>
            <a:ext cx="4917440" cy="3442144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Sua capacidade de se comunicar efetivamente deixará um impacto duradouro no seu público</a:t>
            </a:r>
          </a:p>
          <a:p>
            <a:pPr rtl="0"/>
            <a:r>
              <a:rPr lang="pt-BR" dirty="0"/>
              <a:t>A comunicação eficaz envolve não apenas a transmissão de uma mensagem, mas também a ressonância com as experiências, os valores e as emoções de quem está ouvindo</a:t>
            </a:r>
          </a:p>
        </p:txBody>
      </p:sp>
      <p:pic>
        <p:nvPicPr>
          <p:cNvPr id="20" name="Espaço Reservado para Imagem 19" descr="Uma imagem ampliada de um gráfico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1"/>
            <a:ext cx="11090275" cy="1237360"/>
          </a:xfrm>
          <a:noFill/>
        </p:spPr>
        <p:txBody>
          <a:bodyPr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Entrega dinâmica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720" y="1917065"/>
            <a:ext cx="2921000" cy="4297680"/>
          </a:xfrm>
          <a:noFill/>
        </p:spPr>
        <p:txBody>
          <a:bodyPr vert="horz" lIns="0" tIns="0" rIns="91440" bIns="45720" rtlCol="0" anchor="t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Aprenda a infundir energia na sua entrega para deixar uma impressão duradoura</a:t>
            </a:r>
          </a:p>
          <a:p>
            <a:pPr rtl="0"/>
            <a:r>
              <a:rPr lang="pt-BR"/>
              <a:t>Um dos objetivos de uma comunicação eficaz é motivar seu público</a:t>
            </a:r>
          </a:p>
        </p:txBody>
      </p:sp>
      <p:graphicFrame>
        <p:nvGraphicFramePr>
          <p:cNvPr id="16" name="Espaço Reservado para Tabela 2">
            <a:extLst>
              <a:ext uri="{FF2B5EF4-FFF2-40B4-BE49-F238E27FC236}">
                <a16:creationId xmlns:a16="http://schemas.microsoft.com/office/drawing/2014/main" id="{1904F965-D30E-5A83-B17B-7D030326E77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95063446"/>
              </p:ext>
            </p:extLst>
          </p:nvPr>
        </p:nvGraphicFramePr>
        <p:xfrm>
          <a:off x="4048125" y="1917700"/>
          <a:ext cx="7601960" cy="429767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1377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97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7321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580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692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Métrica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Medida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Meta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Real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Participação do público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Nº de participantes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150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120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Duração do compromisso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Minutos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60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75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Interação de P e R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Nº de perguntas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10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15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692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Comentários positivos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Porcentagem (%)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90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95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95129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Taxa de retenção de informações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Porcentagem (%)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80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85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8315"/>
            <a:ext cx="11090274" cy="1332000"/>
          </a:xfrm>
          <a:noFill/>
        </p:spPr>
        <p:txBody>
          <a:bodyPr lIns="0"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Dicas e conclusões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965095"/>
            <a:ext cx="5435600" cy="3995650"/>
          </a:xfrm>
          <a:noFill/>
        </p:spPr>
        <p:txBody>
          <a:bodyPr vert="horz" lIns="0" tIns="45720" rIns="91440" bIns="45720" rtlCol="0" anchor="t">
            <a:normAutofit fontScale="925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Prática consistente</a:t>
            </a:r>
          </a:p>
          <a:p>
            <a:pPr lvl="1" rtl="0"/>
            <a:r>
              <a:rPr lang="pt-BR" dirty="0"/>
              <a:t>Fortaleça sua familiaridade</a:t>
            </a:r>
          </a:p>
          <a:p>
            <a:pPr rtl="0"/>
            <a:r>
              <a:rPr lang="pt-BR" dirty="0"/>
              <a:t>Refine o estilo da entrega</a:t>
            </a:r>
          </a:p>
          <a:p>
            <a:pPr lvl="1" rtl="0"/>
            <a:r>
              <a:rPr lang="pt-BR" dirty="0"/>
              <a:t>Ritmo, tom e ênfase</a:t>
            </a:r>
          </a:p>
          <a:p>
            <a:pPr rtl="0"/>
            <a:r>
              <a:rPr lang="pt-BR" dirty="0"/>
              <a:t>Intervalo e transições</a:t>
            </a:r>
          </a:p>
          <a:p>
            <a:pPr lvl="1" rtl="0"/>
            <a:r>
              <a:rPr lang="pt-BR" dirty="0"/>
              <a:t>Busque uma apresentação perfeita e profissional</a:t>
            </a:r>
          </a:p>
          <a:p>
            <a:pPr rtl="0"/>
            <a:r>
              <a:rPr lang="pt-BR" dirty="0"/>
              <a:t>Audiência de prática</a:t>
            </a:r>
          </a:p>
          <a:p>
            <a:pPr lvl="1" rtl="0"/>
            <a:r>
              <a:rPr lang="pt-BR" dirty="0"/>
              <a:t>Peça aos colegas que ouçam e forneçam feedbacks</a:t>
            </a:r>
          </a:p>
          <a:p>
            <a:pPr lvl="1" rtl="0"/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1305" y="1965095"/>
            <a:ext cx="5339397" cy="3995650"/>
          </a:xfrm>
          <a:noFill/>
        </p:spPr>
        <p:txBody>
          <a:bodyPr lIns="0"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1700" dirty="0"/>
              <a:t>Busque feedbacks</a:t>
            </a:r>
          </a:p>
          <a:p>
            <a:pPr rtl="0"/>
            <a:r>
              <a:rPr lang="pt-BR" sz="1700" dirty="0"/>
              <a:t>Reflita sobre o desempenho</a:t>
            </a:r>
          </a:p>
          <a:p>
            <a:pPr rtl="0"/>
            <a:r>
              <a:rPr lang="pt-BR" sz="1700" dirty="0"/>
              <a:t>Explore novas técnicas</a:t>
            </a:r>
          </a:p>
          <a:p>
            <a:pPr rtl="0"/>
            <a:r>
              <a:rPr lang="pt-BR" sz="1700" dirty="0"/>
              <a:t>Defina metas pessoais</a:t>
            </a:r>
          </a:p>
          <a:p>
            <a:pPr rtl="0"/>
            <a:r>
              <a:rPr lang="pt-BR" sz="1700" dirty="0"/>
              <a:t>Iterar e adaptar</a:t>
            </a:r>
          </a:p>
        </p:txBody>
      </p:sp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pt-BR"/>
            </a:defPPr>
          </a:lstStyle>
          <a:p>
            <a:pPr rtl="0"/>
            <a:r>
              <a:rPr lang="pt-BR"/>
              <a:t>Métricas de participação de fala</a:t>
            </a:r>
          </a:p>
        </p:txBody>
      </p:sp>
      <p:graphicFrame>
        <p:nvGraphicFramePr>
          <p:cNvPr id="13" name="Espaço Reservado para Tabela 3">
            <a:extLst>
              <a:ext uri="{FF2B5EF4-FFF2-40B4-BE49-F238E27FC236}">
                <a16:creationId xmlns:a16="http://schemas.microsoft.com/office/drawing/2014/main" id="{24F0E16C-0C56-89A4-2FE9-7D5EBE3963C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7261769"/>
              </p:ext>
            </p:extLst>
          </p:nvPr>
        </p:nvGraphicFramePr>
        <p:xfrm>
          <a:off x="550863" y="1917700"/>
          <a:ext cx="11090276" cy="4297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32713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91382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1851949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14232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7162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Fator de impacto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Medida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Meta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Alcançado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Interação com o público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Porcentagem (%)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85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88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Retenção de conhecimento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Porcentagem (%)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75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80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Pesquisas pós-apresentação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Classificação média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4.2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4.5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Taxa de referência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Porcentagem (%)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10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12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1628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Oportunidades de colaboração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/>
                        <a:t>Nº de oportunidades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8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/>
                      <a:r>
                        <a:rPr lang="pt-BR" b="0" dirty="0"/>
                        <a:t>10</a:t>
                      </a:r>
                      <a:endParaRPr lang="pt-BR" b="0" i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65297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43_TF33713516_Win32" id="{381BE384-4E88-40D9-BE21-FE65AFA21B4D}" vid="{52A1BC7B-5E05-4786-AE3A-7C32E2BD0D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{44D61803-807E-4A25-9833-6EEE72E1E9BA}TF7eddf224-c89c-478f-8f2f-bfb0868921693e3b6079_win32-4c73aa943b8d</Template>
  <TotalTime>79</TotalTime>
  <Words>404</Words>
  <Application>Microsoft Office PowerPoint</Application>
  <PresentationFormat>Widescreen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Walbaum Display</vt:lpstr>
      <vt:lpstr>3DFloatVTI</vt:lpstr>
      <vt:lpstr>Desmistificando Java</vt:lpstr>
      <vt:lpstr>Planejamento</vt:lpstr>
      <vt:lpstr>Sem pré-requisitos</vt:lpstr>
      <vt:lpstr>Vamos lá</vt:lpstr>
      <vt:lpstr>Por que Java?</vt:lpstr>
      <vt:lpstr>Conceitos iniciais</vt:lpstr>
      <vt:lpstr>FIM!</vt:lpstr>
      <vt:lpstr>Técnicas de apresentação eficazes</vt:lpstr>
      <vt:lpstr>Navegando em sessões de P e R</vt:lpstr>
      <vt:lpstr>Impacto da fala</vt:lpstr>
      <vt:lpstr>Entrega dinâmica</vt:lpstr>
      <vt:lpstr>Dicas e conclusões finais</vt:lpstr>
      <vt:lpstr>Métricas de participação de fala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DE ANDRADE BARBOSA</dc:creator>
  <cp:lastModifiedBy>GUILHERME DE ANDRADE BARBOSA</cp:lastModifiedBy>
  <cp:revision>1</cp:revision>
  <dcterms:created xsi:type="dcterms:W3CDTF">2025-09-26T12:28:34Z</dcterms:created>
  <dcterms:modified xsi:type="dcterms:W3CDTF">2025-09-26T13:48:19Z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